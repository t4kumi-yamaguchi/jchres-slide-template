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CHRE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64008" cy="118872"/>
          </a:xfrm>
          <a:prstGeom prst="rect">
            <a:avLst/>
          </a:prstGeom>
          <a:solidFill>
            <a:srgbClr val="2493C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530352"/>
            <a:ext cx="64008" cy="182880"/>
          </a:xfrm>
          <a:prstGeom prst="rect">
            <a:avLst/>
          </a:prstGeom>
          <a:solidFill>
            <a:srgbClr val="1868A0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457200"/>
            <a:ext cx="64008" cy="256032"/>
          </a:xfrm>
          <a:prstGeom prst="rect">
            <a:avLst/>
          </a:prstGeom>
          <a:solidFill>
            <a:srgbClr val="17408C"/>
          </a:solidFill>
          <a:ln/>
        </p:spPr>
      </p:sp>
      <p:pic>
        <p:nvPicPr>
          <p:cNvPr id="5" name="Image 0" descr="/home/claude/jchres-slide-template/assets/jchres_logo_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6385" y="6400800"/>
            <a:ext cx="782487" cy="274320"/>
          </a:xfrm>
          <a:prstGeom prst="rect">
            <a:avLst/>
          </a:prstGeom>
        </p:spPr>
      </p:pic>
      <p:sp>
        <p:nvSpPr>
          <p:cNvPr id="6" name="Text 3"/>
          <p:cNvSpPr/>
          <p:nvPr>
            <p:ph idx="104" type="title" hasCustomPrompt="1"/>
          </p:nvPr>
        </p:nvSpPr>
        <p:spPr>
          <a:xfrm>
            <a:off x="640080" y="768096"/>
            <a:ext cx="1090879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640080" y="1691640"/>
            <a:ext cx="10908792" cy="44531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A5F6E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CHRES_DARK">
    <p:bg>
      <p:bgPr>
        <a:solidFill>
          <a:srgbClr val="1130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A5F6E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1312" y="0"/>
            <a:ext cx="3977640" cy="6858000"/>
          </a:xfrm>
          <a:prstGeom prst="rect">
            <a:avLst/>
          </a:prstGeom>
          <a:solidFill>
            <a:srgbClr val="113069"/>
          </a:solidFill>
          <a:ln/>
        </p:spPr>
      </p:sp>
      <p:sp>
        <p:nvSpPr>
          <p:cNvPr id="3" name="Shape 1"/>
          <p:cNvSpPr/>
          <p:nvPr/>
        </p:nvSpPr>
        <p:spPr>
          <a:xfrm>
            <a:off x="8897112" y="4663440"/>
            <a:ext cx="475488" cy="1371600"/>
          </a:xfrm>
          <a:prstGeom prst="rect">
            <a:avLst/>
          </a:prstGeom>
          <a:solidFill>
            <a:srgbClr val="2493CF"/>
          </a:solidFill>
          <a:ln/>
        </p:spPr>
      </p:sp>
      <p:sp>
        <p:nvSpPr>
          <p:cNvPr id="4" name="Shape 2"/>
          <p:cNvSpPr/>
          <p:nvPr/>
        </p:nvSpPr>
        <p:spPr>
          <a:xfrm>
            <a:off x="9610344" y="3931920"/>
            <a:ext cx="475488" cy="2103120"/>
          </a:xfrm>
          <a:prstGeom prst="rect">
            <a:avLst/>
          </a:prstGeom>
          <a:solidFill>
            <a:srgbClr val="1868A0"/>
          </a:solidFill>
          <a:ln/>
        </p:spPr>
      </p:sp>
      <p:sp>
        <p:nvSpPr>
          <p:cNvPr id="5" name="Shape 3"/>
          <p:cNvSpPr/>
          <p:nvPr/>
        </p:nvSpPr>
        <p:spPr>
          <a:xfrm>
            <a:off x="10323576" y="3108960"/>
            <a:ext cx="475488" cy="2926080"/>
          </a:xfrm>
          <a:prstGeom prst="rect">
            <a:avLst/>
          </a:prstGeom>
          <a:solidFill>
            <a:srgbClr val="2493CF"/>
          </a:solidFill>
          <a:ln/>
        </p:spPr>
      </p:sp>
      <p:sp>
        <p:nvSpPr>
          <p:cNvPr id="6" name="Shape 4"/>
          <p:cNvSpPr/>
          <p:nvPr/>
        </p:nvSpPr>
        <p:spPr>
          <a:xfrm>
            <a:off x="11036808" y="3474720"/>
            <a:ext cx="475488" cy="2560320"/>
          </a:xfrm>
          <a:prstGeom prst="rect">
            <a:avLst/>
          </a:prstGeom>
          <a:solidFill>
            <a:srgbClr val="17408C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9134856" y="4160520"/>
            <a:ext cx="713232" cy="91440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848088" y="3794760"/>
            <a:ext cx="713232" cy="36576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561320" y="3657600"/>
            <a:ext cx="713232" cy="13716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274552" y="3063240"/>
            <a:ext cx="427939" cy="59436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34272" y="4974336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747504" y="4059936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60736" y="3694176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73968" y="3557016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01907" y="2962656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0" descr="/home/claude/jchres-slide-template/assets/jchre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1841737" cy="6583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" y="1874520"/>
            <a:ext cx="7022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spc="200" kern="0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COMPANY PROFILE</a:t>
            </a:r>
            <a:endParaRPr lang="ja-JP" sz="1600" dirty="0"/>
          </a:p>
        </p:txBody>
      </p:sp>
      <p:sp>
        <p:nvSpPr>
          <p:cNvPr id="18" name="Text 15"/>
          <p:cNvSpPr/>
          <p:nvPr/>
        </p:nvSpPr>
        <p:spPr>
          <a:xfrm>
            <a:off x="640080" y="2286000"/>
            <a:ext cx="7022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ja-JP" altLang="en-US" sz="38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一般社団法人ヘルスケア研究・教育支援機構のご紹介</a:t>
            </a:r>
            <a:endParaRPr lang="ja-JP" sz="3800" dirty="0"/>
          </a:p>
        </p:txBody>
      </p:sp>
      <p:sp>
        <p:nvSpPr>
          <p:cNvPr id="19" name="Text 16"/>
          <p:cNvSpPr/>
          <p:nvPr/>
        </p:nvSpPr>
        <p:spPr>
          <a:xfrm>
            <a:off x="640080" y="4114800"/>
            <a:ext cx="7022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200" dirty="0">
                <a:solidFill>
                  <a:srgbClr val="30304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研究の構想から社会実装まで</a:t>
            </a:r>
            <a:endParaRPr lang="ja-JP" sz="2200" dirty="0"/>
          </a:p>
        </p:txBody>
      </p:sp>
      <p:sp>
        <p:nvSpPr>
          <p:cNvPr id="20" name="Text 17"/>
          <p:cNvSpPr/>
          <p:nvPr/>
        </p:nvSpPr>
        <p:spPr>
          <a:xfrm>
            <a:off x="640080" y="5532120"/>
            <a:ext cx="7022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専務理事　山口 拓允</a:t>
            </a:r>
            <a:endParaRPr lang="ja-JP" sz="2000" dirty="0"/>
          </a:p>
        </p:txBody>
      </p:sp>
      <p:sp>
        <p:nvSpPr>
          <p:cNvPr id="21" name="Text 18"/>
          <p:cNvSpPr/>
          <p:nvPr/>
        </p:nvSpPr>
        <p:spPr>
          <a:xfrm>
            <a:off x="640080" y="5961888"/>
            <a:ext cx="7022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dirty="0">
                <a:solidFill>
                  <a:srgbClr val="5A5F6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2026年9月</a:t>
            </a:r>
            <a:endParaRPr lang="ja-JP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1432" y="5760720"/>
            <a:ext cx="411480" cy="1097280"/>
          </a:xfrm>
          <a:prstGeom prst="rect">
            <a:avLst/>
          </a:prstGeom>
          <a:solidFill>
            <a:srgbClr val="E1EAF5"/>
          </a:solidFill>
          <a:ln/>
        </p:spPr>
      </p:sp>
      <p:sp>
        <p:nvSpPr>
          <p:cNvPr id="3" name="Shape 1"/>
          <p:cNvSpPr/>
          <p:nvPr/>
        </p:nvSpPr>
        <p:spPr>
          <a:xfrm>
            <a:off x="9765792" y="5212080"/>
            <a:ext cx="411480" cy="1645920"/>
          </a:xfrm>
          <a:prstGeom prst="rect">
            <a:avLst/>
          </a:prstGeom>
          <a:solidFill>
            <a:srgbClr val="D7E3F1"/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4480560"/>
            <a:ext cx="411480" cy="2377440"/>
          </a:xfrm>
          <a:prstGeom prst="rect">
            <a:avLst/>
          </a:prstGeom>
          <a:solidFill>
            <a:srgbClr val="E1EAF5"/>
          </a:solidFill>
          <a:ln/>
        </p:spPr>
      </p:sp>
      <p:sp>
        <p:nvSpPr>
          <p:cNvPr id="5" name="Shape 3"/>
          <p:cNvSpPr/>
          <p:nvPr/>
        </p:nvSpPr>
        <p:spPr>
          <a:xfrm>
            <a:off x="10954512" y="4846320"/>
            <a:ext cx="411480" cy="2011680"/>
          </a:xfrm>
          <a:prstGeom prst="rect">
            <a:avLst/>
          </a:prstGeom>
          <a:solidFill>
            <a:srgbClr val="CFDDEE"/>
          </a:solidFill>
          <a:ln/>
        </p:spPr>
      </p:sp>
      <p:sp>
        <p:nvSpPr>
          <p:cNvPr id="6" name="Shape 4"/>
          <p:cNvSpPr/>
          <p:nvPr/>
        </p:nvSpPr>
        <p:spPr>
          <a:xfrm flipV="1">
            <a:off x="9377172" y="5440680"/>
            <a:ext cx="594360" cy="731520"/>
          </a:xfrm>
          <a:prstGeom prst="line">
            <a:avLst/>
          </a:prstGeom>
          <a:noFill/>
          <a:ln w="38100">
            <a:solidFill>
              <a:srgbClr val="C4D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971532" y="5166360"/>
            <a:ext cx="594360" cy="274320"/>
          </a:xfrm>
          <a:prstGeom prst="line">
            <a:avLst/>
          </a:prstGeom>
          <a:noFill/>
          <a:ln w="38100">
            <a:solidFill>
              <a:srgbClr val="C4D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565892" y="5029200"/>
            <a:ext cx="594360" cy="137160"/>
          </a:xfrm>
          <a:prstGeom prst="line">
            <a:avLst/>
          </a:prstGeom>
          <a:noFill/>
          <a:ln w="38100">
            <a:solidFill>
              <a:srgbClr val="C4D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160252" y="4434840"/>
            <a:ext cx="370332" cy="594360"/>
          </a:xfrm>
          <a:prstGeom prst="line">
            <a:avLst/>
          </a:prstGeom>
          <a:noFill/>
          <a:ln w="38100">
            <a:solidFill>
              <a:srgbClr val="C4D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76588" y="6071616"/>
            <a:ext cx="201168" cy="201168"/>
          </a:xfrm>
          <a:prstGeom prst="ellipse">
            <a:avLst/>
          </a:prstGeom>
          <a:solidFill>
            <a:srgbClr val="C4D5EA"/>
          </a:solidFill>
          <a:ln/>
        </p:spPr>
      </p:sp>
      <p:sp>
        <p:nvSpPr>
          <p:cNvPr id="11" name="Shape 9"/>
          <p:cNvSpPr/>
          <p:nvPr/>
        </p:nvSpPr>
        <p:spPr>
          <a:xfrm>
            <a:off x="9870948" y="5340096"/>
            <a:ext cx="201168" cy="201168"/>
          </a:xfrm>
          <a:prstGeom prst="ellipse">
            <a:avLst/>
          </a:prstGeom>
          <a:solidFill>
            <a:srgbClr val="C4D5E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65308" y="5065776"/>
            <a:ext cx="201168" cy="201168"/>
          </a:xfrm>
          <a:prstGeom prst="ellipse">
            <a:avLst/>
          </a:prstGeom>
          <a:solidFill>
            <a:srgbClr val="C4D5E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59668" y="4928616"/>
            <a:ext cx="201168" cy="201168"/>
          </a:xfrm>
          <a:prstGeom prst="ellipse">
            <a:avLst/>
          </a:prstGeom>
          <a:solidFill>
            <a:srgbClr val="C4D5E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0" y="4334256"/>
            <a:ext cx="201168" cy="201168"/>
          </a:xfrm>
          <a:prstGeom prst="ellipse">
            <a:avLst/>
          </a:prstGeom>
          <a:solidFill>
            <a:srgbClr val="C4D5EA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408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spc="200" kern="0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MISSION</a:t>
            </a:r>
            <a:endParaRPr lang="ja-JP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169164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40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エビデンスに、道をつくる。</a:t>
            </a:r>
            <a:endParaRPr lang="ja-JP" sz="4000" dirty="0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研究の構想から社会実装まで。科学的根拠が人々の健康を変える力となるよう、その道筋のすべてを支援します。</a:t>
            </a:r>
            <a:endParaRPr lang="ja-JP" sz="2400" dirty="0"/>
          </a:p>
        </p:txBody>
      </p:sp>
      <p:pic>
        <p:nvPicPr>
          <p:cNvPr id="19" name="Image 0" descr="/home/claude/jchres-slide-template/assets/jchres_logo_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6385" y="6400800"/>
            <a:ext cx="782487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71432" y="5760720"/>
            <a:ext cx="411480" cy="1097280"/>
          </a:xfrm>
          <a:prstGeom prst="rect">
            <a:avLst/>
          </a:prstGeom>
          <a:solidFill>
            <a:srgbClr val="E1EAF5"/>
          </a:solidFill>
          <a:ln/>
        </p:spPr>
      </p:sp>
      <p:sp>
        <p:nvSpPr>
          <p:cNvPr id="3" name="Shape 1"/>
          <p:cNvSpPr/>
          <p:nvPr/>
        </p:nvSpPr>
        <p:spPr>
          <a:xfrm>
            <a:off x="9765792" y="5212080"/>
            <a:ext cx="411480" cy="1645920"/>
          </a:xfrm>
          <a:prstGeom prst="rect">
            <a:avLst/>
          </a:prstGeom>
          <a:solidFill>
            <a:srgbClr val="D7E3F1"/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4480560"/>
            <a:ext cx="411480" cy="2377440"/>
          </a:xfrm>
          <a:prstGeom prst="rect">
            <a:avLst/>
          </a:prstGeom>
          <a:solidFill>
            <a:srgbClr val="E1EAF5"/>
          </a:solidFill>
          <a:ln/>
        </p:spPr>
      </p:sp>
      <p:sp>
        <p:nvSpPr>
          <p:cNvPr id="5" name="Shape 3"/>
          <p:cNvSpPr/>
          <p:nvPr/>
        </p:nvSpPr>
        <p:spPr>
          <a:xfrm>
            <a:off x="10954512" y="4846320"/>
            <a:ext cx="411480" cy="2011680"/>
          </a:xfrm>
          <a:prstGeom prst="rect">
            <a:avLst/>
          </a:prstGeom>
          <a:solidFill>
            <a:srgbClr val="CFDDEE"/>
          </a:solidFill>
          <a:ln/>
        </p:spPr>
      </p:sp>
      <p:sp>
        <p:nvSpPr>
          <p:cNvPr id="6" name="Shape 4"/>
          <p:cNvSpPr/>
          <p:nvPr/>
        </p:nvSpPr>
        <p:spPr>
          <a:xfrm flipV="1">
            <a:off x="9377172" y="5440680"/>
            <a:ext cx="594360" cy="731520"/>
          </a:xfrm>
          <a:prstGeom prst="line">
            <a:avLst/>
          </a:prstGeom>
          <a:noFill/>
          <a:ln w="38100">
            <a:solidFill>
              <a:srgbClr val="C4D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971532" y="5166360"/>
            <a:ext cx="594360" cy="274320"/>
          </a:xfrm>
          <a:prstGeom prst="line">
            <a:avLst/>
          </a:prstGeom>
          <a:noFill/>
          <a:ln w="38100">
            <a:solidFill>
              <a:srgbClr val="C4D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565892" y="5029200"/>
            <a:ext cx="594360" cy="137160"/>
          </a:xfrm>
          <a:prstGeom prst="line">
            <a:avLst/>
          </a:prstGeom>
          <a:noFill/>
          <a:ln w="38100">
            <a:solidFill>
              <a:srgbClr val="C4D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160252" y="4434840"/>
            <a:ext cx="370332" cy="594360"/>
          </a:xfrm>
          <a:prstGeom prst="line">
            <a:avLst/>
          </a:prstGeom>
          <a:noFill/>
          <a:ln w="38100">
            <a:solidFill>
              <a:srgbClr val="C4D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76588" y="6071616"/>
            <a:ext cx="201168" cy="201168"/>
          </a:xfrm>
          <a:prstGeom prst="ellipse">
            <a:avLst/>
          </a:prstGeom>
          <a:solidFill>
            <a:srgbClr val="C4D5EA"/>
          </a:solidFill>
          <a:ln/>
        </p:spPr>
      </p:sp>
      <p:sp>
        <p:nvSpPr>
          <p:cNvPr id="11" name="Shape 9"/>
          <p:cNvSpPr/>
          <p:nvPr/>
        </p:nvSpPr>
        <p:spPr>
          <a:xfrm>
            <a:off x="9870948" y="5340096"/>
            <a:ext cx="201168" cy="201168"/>
          </a:xfrm>
          <a:prstGeom prst="ellipse">
            <a:avLst/>
          </a:prstGeom>
          <a:solidFill>
            <a:srgbClr val="C4D5E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65308" y="5065776"/>
            <a:ext cx="201168" cy="201168"/>
          </a:xfrm>
          <a:prstGeom prst="ellipse">
            <a:avLst/>
          </a:prstGeom>
          <a:solidFill>
            <a:srgbClr val="C4D5E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59668" y="4928616"/>
            <a:ext cx="201168" cy="201168"/>
          </a:xfrm>
          <a:prstGeom prst="ellipse">
            <a:avLst/>
          </a:prstGeom>
          <a:solidFill>
            <a:srgbClr val="C4D5E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0" y="4334256"/>
            <a:ext cx="201168" cy="201168"/>
          </a:xfrm>
          <a:prstGeom prst="ellipse">
            <a:avLst/>
          </a:prstGeom>
          <a:solidFill>
            <a:srgbClr val="C4D5EA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408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spc="200" kern="0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VISION</a:t>
            </a:r>
            <a:endParaRPr lang="ja-JP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169164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40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データが医療を変える社会を、ここからつくる。</a:t>
            </a:r>
            <a:endParaRPr lang="ja-JP" sz="4000" dirty="0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RWD、AI、デジタルヘルス、分散型臨床試験など次世代の研究基盤を取り入れ、患者中心の医療を支える科学的インフラを構築します。</a:t>
            </a:r>
            <a:endParaRPr lang="ja-JP" sz="2400" dirty="0"/>
          </a:p>
        </p:txBody>
      </p:sp>
      <p:pic>
        <p:nvPicPr>
          <p:cNvPr id="19" name="Image 0" descr="/home/claude/jchres-slide-template/assets/jchres_logo_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6385" y="6400800"/>
            <a:ext cx="782487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5029200"/>
            <a:ext cx="566928" cy="1828800"/>
          </a:xfrm>
          <a:prstGeom prst="rect">
            <a:avLst/>
          </a:prstGeom>
          <a:solidFill>
            <a:srgbClr val="1C4A8E"/>
          </a:solidFill>
          <a:ln/>
        </p:spPr>
      </p:sp>
      <p:sp>
        <p:nvSpPr>
          <p:cNvPr id="3" name="Shape 1"/>
          <p:cNvSpPr/>
          <p:nvPr/>
        </p:nvSpPr>
        <p:spPr>
          <a:xfrm>
            <a:off x="9189720" y="4114800"/>
            <a:ext cx="566928" cy="2743200"/>
          </a:xfrm>
          <a:prstGeom prst="rect">
            <a:avLst/>
          </a:prstGeom>
          <a:solidFill>
            <a:srgbClr val="1A548F"/>
          </a:solidFill>
          <a:ln/>
        </p:spPr>
      </p:sp>
      <p:sp>
        <p:nvSpPr>
          <p:cNvPr id="4" name="Shape 2"/>
          <p:cNvSpPr/>
          <p:nvPr/>
        </p:nvSpPr>
        <p:spPr>
          <a:xfrm>
            <a:off x="10030968" y="3017520"/>
            <a:ext cx="566928" cy="3840480"/>
          </a:xfrm>
          <a:prstGeom prst="rect">
            <a:avLst/>
          </a:prstGeom>
          <a:solidFill>
            <a:srgbClr val="1C4A8E"/>
          </a:solidFill>
          <a:ln/>
        </p:spPr>
      </p:sp>
      <p:sp>
        <p:nvSpPr>
          <p:cNvPr id="5" name="Shape 3"/>
          <p:cNvSpPr/>
          <p:nvPr/>
        </p:nvSpPr>
        <p:spPr>
          <a:xfrm>
            <a:off x="10872216" y="3474720"/>
            <a:ext cx="566928" cy="3383280"/>
          </a:xfrm>
          <a:prstGeom prst="rect">
            <a:avLst/>
          </a:prstGeom>
          <a:solidFill>
            <a:srgbClr val="173F7F"/>
          </a:solidFill>
          <a:ln/>
        </p:spPr>
      </p:sp>
      <p:sp>
        <p:nvSpPr>
          <p:cNvPr id="6" name="Shape 4"/>
          <p:cNvSpPr/>
          <p:nvPr/>
        </p:nvSpPr>
        <p:spPr>
          <a:xfrm flipV="1">
            <a:off x="8631936" y="4343400"/>
            <a:ext cx="841248" cy="1097280"/>
          </a:xfrm>
          <a:prstGeom prst="line">
            <a:avLst/>
          </a:prstGeom>
          <a:noFill/>
          <a:ln w="38100">
            <a:solidFill>
              <a:srgbClr val="2E5C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473184" y="3703320"/>
            <a:ext cx="841248" cy="640080"/>
          </a:xfrm>
          <a:prstGeom prst="line">
            <a:avLst/>
          </a:prstGeom>
          <a:noFill/>
          <a:ln w="38100">
            <a:solidFill>
              <a:srgbClr val="2E5C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314432" y="3657600"/>
            <a:ext cx="841248" cy="45720"/>
          </a:xfrm>
          <a:prstGeom prst="line">
            <a:avLst/>
          </a:prstGeom>
          <a:noFill/>
          <a:ln w="38100">
            <a:solidFill>
              <a:srgbClr val="2E5C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155680" y="3063240"/>
            <a:ext cx="510235" cy="594360"/>
          </a:xfrm>
          <a:prstGeom prst="line">
            <a:avLst/>
          </a:prstGeom>
          <a:noFill/>
          <a:ln w="38100">
            <a:solidFill>
              <a:srgbClr val="2E5C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31352" y="534009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sp>
        <p:nvSpPr>
          <p:cNvPr id="11" name="Shape 9"/>
          <p:cNvSpPr/>
          <p:nvPr/>
        </p:nvSpPr>
        <p:spPr>
          <a:xfrm>
            <a:off x="9372600" y="424281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13848" y="360273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55096" y="355701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65331" y="296265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4630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ja-JP" altLang="en-US" sz="8000" b="1" dirty="0">
                <a:solidFill>
                  <a:srgbClr val="2493C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ja-JP" sz="800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spc="200" kern="0" dirty="0">
                <a:solidFill>
                  <a:srgbClr val="D6E2F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SERVICE</a:t>
            </a:r>
            <a:endParaRPr lang="ja-JP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事業内容</a:t>
            </a:r>
            <a:endParaRPr lang="ja-JP" sz="360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000" dirty="0">
                <a:solidFill>
                  <a:srgbClr val="D6E2F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多領域を横断的に統合した研究支援</a:t>
            </a:r>
            <a:endParaRPr lang="ja-JP" sz="2000" dirty="0"/>
          </a:p>
        </p:txBody>
      </p:sp>
      <p:pic>
        <p:nvPicPr>
          <p:cNvPr id="19" name="Image 0" descr="/home/claude/jchres-slide-template/assets/jchres_logo_compac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172200"/>
            <a:ext cx="886818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" y="42062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400" b="1" spc="200" kern="0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SERVICE</a:t>
            </a:r>
            <a:endParaRPr lang="ja-JP" sz="14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640080" y="76809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8つの支援領域</a:t>
            </a:r>
            <a:endParaRPr lang="ja-JP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0096" cy="930402"/>
          </a:xfrm>
          <a:prstGeom prst="roundRect">
            <a:avLst>
              <a:gd name="adj" fmla="val 7862"/>
            </a:avLst>
          </a:prstGeom>
          <a:solidFill>
            <a:srgbClr val="EDF3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73152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93C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91640" y="1737360"/>
            <a:ext cx="4105656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臨床研究支援</a:t>
            </a:r>
            <a:endParaRPr lang="ja-JP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896362"/>
            <a:ext cx="5340096" cy="930402"/>
          </a:xfrm>
          <a:prstGeom prst="roundRect">
            <a:avLst>
              <a:gd name="adj" fmla="val 7862"/>
            </a:avLst>
          </a:prstGeom>
          <a:solidFill>
            <a:srgbClr val="EDF3F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96362"/>
            <a:ext cx="73152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93C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896362"/>
            <a:ext cx="4105656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統計解析・データサイエンス</a:t>
            </a:r>
            <a:endParaRPr lang="ja-JP" sz="2400" dirty="0"/>
          </a:p>
        </p:txBody>
      </p:sp>
      <p:sp>
        <p:nvSpPr>
          <p:cNvPr id="10" name="Shape 8"/>
          <p:cNvSpPr/>
          <p:nvPr/>
        </p:nvSpPr>
        <p:spPr>
          <a:xfrm>
            <a:off x="640080" y="4055364"/>
            <a:ext cx="5340096" cy="930402"/>
          </a:xfrm>
          <a:prstGeom prst="roundRect">
            <a:avLst>
              <a:gd name="adj" fmla="val 7862"/>
            </a:avLst>
          </a:prstGeom>
          <a:solidFill>
            <a:srgbClr val="EDF3F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055364"/>
            <a:ext cx="73152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93C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91640" y="4055364"/>
            <a:ext cx="4105656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リアルワールドデータ</a:t>
            </a:r>
            <a:endParaRPr lang="ja-JP" sz="2400" dirty="0"/>
          </a:p>
          <a:p>
            <a:pPr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（RWD）解析</a:t>
            </a:r>
            <a:endParaRPr lang="ja-JP" sz="2400" dirty="0"/>
          </a:p>
        </p:txBody>
      </p:sp>
      <p:sp>
        <p:nvSpPr>
          <p:cNvPr id="13" name="Shape 11"/>
          <p:cNvSpPr/>
          <p:nvPr/>
        </p:nvSpPr>
        <p:spPr>
          <a:xfrm>
            <a:off x="640080" y="5214366"/>
            <a:ext cx="5340096" cy="930402"/>
          </a:xfrm>
          <a:prstGeom prst="roundRect">
            <a:avLst>
              <a:gd name="adj" fmla="val 7862"/>
            </a:avLst>
          </a:prstGeom>
          <a:solidFill>
            <a:srgbClr val="EDF3F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14366"/>
            <a:ext cx="73152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93C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91640" y="5214366"/>
            <a:ext cx="4105656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医療経済評価</a:t>
            </a:r>
            <a:endParaRPr lang="ja-JP" sz="2400" dirty="0"/>
          </a:p>
          <a:p>
            <a:pPr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アウトカムリサーチ</a:t>
            </a:r>
            <a:endParaRPr lang="ja-JP" sz="2400" dirty="0"/>
          </a:p>
        </p:txBody>
      </p:sp>
      <p:sp>
        <p:nvSpPr>
          <p:cNvPr id="16" name="Shape 14"/>
          <p:cNvSpPr/>
          <p:nvPr/>
        </p:nvSpPr>
        <p:spPr>
          <a:xfrm>
            <a:off x="6208776" y="1737360"/>
            <a:ext cx="5340096" cy="930402"/>
          </a:xfrm>
          <a:prstGeom prst="roundRect">
            <a:avLst>
              <a:gd name="adj" fmla="val 7862"/>
            </a:avLst>
          </a:prstGeom>
          <a:solidFill>
            <a:srgbClr val="EDF3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83096" y="1737360"/>
            <a:ext cx="73152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93C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260336" y="1737360"/>
            <a:ext cx="4105656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AI・デジタルヘルス研究支援</a:t>
            </a:r>
            <a:endParaRPr lang="ja-JP" sz="2400" dirty="0"/>
          </a:p>
        </p:txBody>
      </p:sp>
      <p:sp>
        <p:nvSpPr>
          <p:cNvPr id="19" name="Shape 17"/>
          <p:cNvSpPr/>
          <p:nvPr/>
        </p:nvSpPr>
        <p:spPr>
          <a:xfrm>
            <a:off x="6208776" y="2896362"/>
            <a:ext cx="5340096" cy="930402"/>
          </a:xfrm>
          <a:prstGeom prst="roundRect">
            <a:avLst>
              <a:gd name="adj" fmla="val 7862"/>
            </a:avLst>
          </a:prstGeom>
          <a:solidFill>
            <a:srgbClr val="EDF3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83096" y="2896362"/>
            <a:ext cx="73152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93C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260336" y="2896362"/>
            <a:ext cx="4105656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論文化・学術発信支援</a:t>
            </a:r>
            <a:endParaRPr lang="ja-JP" sz="2400" dirty="0"/>
          </a:p>
        </p:txBody>
      </p:sp>
      <p:sp>
        <p:nvSpPr>
          <p:cNvPr id="22" name="Shape 20"/>
          <p:cNvSpPr/>
          <p:nvPr/>
        </p:nvSpPr>
        <p:spPr>
          <a:xfrm>
            <a:off x="6208776" y="4055364"/>
            <a:ext cx="5340096" cy="930402"/>
          </a:xfrm>
          <a:prstGeom prst="roundRect">
            <a:avLst>
              <a:gd name="adj" fmla="val 7862"/>
            </a:avLst>
          </a:prstGeom>
          <a:solidFill>
            <a:srgbClr val="EDF3FA"/>
          </a:solidFill>
          <a:ln/>
        </p:spPr>
      </p:sp>
      <p:sp>
        <p:nvSpPr>
          <p:cNvPr id="23" name="Text 21"/>
          <p:cNvSpPr/>
          <p:nvPr/>
        </p:nvSpPr>
        <p:spPr>
          <a:xfrm>
            <a:off x="6483096" y="4055364"/>
            <a:ext cx="73152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93C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260336" y="4055364"/>
            <a:ext cx="4105656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教育・人材育成</a:t>
            </a:r>
            <a:endParaRPr lang="ja-JP" sz="2400" dirty="0"/>
          </a:p>
        </p:txBody>
      </p:sp>
      <p:sp>
        <p:nvSpPr>
          <p:cNvPr id="25" name="Shape 23"/>
          <p:cNvSpPr/>
          <p:nvPr/>
        </p:nvSpPr>
        <p:spPr>
          <a:xfrm>
            <a:off x="6208776" y="5214366"/>
            <a:ext cx="5340096" cy="930402"/>
          </a:xfrm>
          <a:prstGeom prst="roundRect">
            <a:avLst>
              <a:gd name="adj" fmla="val 7862"/>
            </a:avLst>
          </a:prstGeom>
          <a:solidFill>
            <a:srgbClr val="EDF3FA"/>
          </a:solidFill>
          <a:ln/>
        </p:spPr>
      </p:sp>
      <p:sp>
        <p:nvSpPr>
          <p:cNvPr id="26" name="Text 24"/>
          <p:cNvSpPr/>
          <p:nvPr/>
        </p:nvSpPr>
        <p:spPr>
          <a:xfrm>
            <a:off x="6483096" y="5214366"/>
            <a:ext cx="73152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493C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08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260336" y="5214366"/>
            <a:ext cx="4105656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研究コンサルティング</a:t>
            </a:r>
            <a:endParaRPr lang="ja-JP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A5F6E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" y="42062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400" b="1" spc="200" kern="0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APPROACH</a:t>
            </a:r>
            <a:endParaRPr lang="ja-JP" sz="14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640080" y="76809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研究の構想から社会実装までを一貫して支援</a:t>
            </a:r>
            <a:endParaRPr lang="ja-JP" sz="3000" dirty="0"/>
          </a:p>
        </p:txBody>
      </p:sp>
      <p:sp>
        <p:nvSpPr>
          <p:cNvPr id="4" name="Shape 2"/>
          <p:cNvSpPr/>
          <p:nvPr/>
        </p:nvSpPr>
        <p:spPr>
          <a:xfrm>
            <a:off x="1730959" y="3332988"/>
            <a:ext cx="8727034" cy="0"/>
          </a:xfrm>
          <a:prstGeom prst="line">
            <a:avLst/>
          </a:prstGeom>
          <a:noFill/>
          <a:ln w="50800">
            <a:solidFill>
              <a:srgbClr val="D5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7495" y="3049524"/>
            <a:ext cx="566928" cy="566928"/>
          </a:xfrm>
          <a:prstGeom prst="ellipse">
            <a:avLst/>
          </a:prstGeom>
          <a:solidFill>
            <a:srgbClr val="17408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47495" y="30495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3835908"/>
            <a:ext cx="19623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研究デザインの策定</a:t>
            </a:r>
            <a:endParaRPr lang="ja-JP" sz="2400" dirty="0"/>
          </a:p>
        </p:txBody>
      </p:sp>
      <p:sp>
        <p:nvSpPr>
          <p:cNvPr id="8" name="Shape 6"/>
          <p:cNvSpPr/>
          <p:nvPr/>
        </p:nvSpPr>
        <p:spPr>
          <a:xfrm>
            <a:off x="3629254" y="3049524"/>
            <a:ext cx="566928" cy="566928"/>
          </a:xfrm>
          <a:prstGeom prst="ellipse">
            <a:avLst/>
          </a:prstGeom>
          <a:solidFill>
            <a:srgbClr val="17408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9254" y="30495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31566" y="3835908"/>
            <a:ext cx="19623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データ構築・解析</a:t>
            </a:r>
            <a:endParaRPr lang="ja-JP" sz="2400" dirty="0"/>
          </a:p>
        </p:txBody>
      </p:sp>
      <p:sp>
        <p:nvSpPr>
          <p:cNvPr id="11" name="Shape 9"/>
          <p:cNvSpPr/>
          <p:nvPr/>
        </p:nvSpPr>
        <p:spPr>
          <a:xfrm>
            <a:off x="5811012" y="3049524"/>
            <a:ext cx="566928" cy="566928"/>
          </a:xfrm>
          <a:prstGeom prst="ellipse">
            <a:avLst/>
          </a:prstGeom>
          <a:solidFill>
            <a:srgbClr val="17408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11012" y="30495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13325" y="3835908"/>
            <a:ext cx="19623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論文化</a:t>
            </a:r>
            <a:endParaRPr lang="ja-JP" sz="2400" dirty="0"/>
          </a:p>
        </p:txBody>
      </p:sp>
      <p:sp>
        <p:nvSpPr>
          <p:cNvPr id="14" name="Shape 12"/>
          <p:cNvSpPr/>
          <p:nvPr/>
        </p:nvSpPr>
        <p:spPr>
          <a:xfrm>
            <a:off x="7992770" y="3049524"/>
            <a:ext cx="566928" cy="566928"/>
          </a:xfrm>
          <a:prstGeom prst="ellipse">
            <a:avLst/>
          </a:prstGeom>
          <a:solidFill>
            <a:srgbClr val="17408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92770" y="30495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295083" y="3835908"/>
            <a:ext cx="19623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ガイドラインへの反映</a:t>
            </a:r>
            <a:endParaRPr lang="ja-JP" sz="2400" dirty="0"/>
          </a:p>
        </p:txBody>
      </p:sp>
      <p:sp>
        <p:nvSpPr>
          <p:cNvPr id="17" name="Shape 15"/>
          <p:cNvSpPr/>
          <p:nvPr/>
        </p:nvSpPr>
        <p:spPr>
          <a:xfrm>
            <a:off x="10174529" y="3049524"/>
            <a:ext cx="566928" cy="566928"/>
          </a:xfrm>
          <a:prstGeom prst="ellipse">
            <a:avLst/>
          </a:prstGeom>
          <a:solidFill>
            <a:srgbClr val="2493C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74529" y="30495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476842" y="3835908"/>
            <a:ext cx="19623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社会実装</a:t>
            </a:r>
            <a:endParaRPr lang="ja-JP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A5F6E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" y="42062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400" b="1" spc="200" kern="0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SERVICE</a:t>
            </a:r>
            <a:endParaRPr lang="ja-JP" sz="14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640080" y="76809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主な支援内容</a:t>
            </a:r>
            <a:endParaRPr lang="ja-JP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2904" cy="4407408"/>
          </a:xfrm>
          <a:prstGeom prst="roundRect">
            <a:avLst>
              <a:gd name="adj" fmla="val 2671"/>
            </a:avLst>
          </a:prstGeom>
          <a:solidFill>
            <a:srgbClr val="EDF3F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2493C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ja-JP" sz="2400" dirty="0"/>
          </a:p>
        </p:txBody>
      </p:sp>
      <p:sp>
        <p:nvSpPr>
          <p:cNvPr id="6" name="Shape 4"/>
          <p:cNvSpPr/>
          <p:nvPr/>
        </p:nvSpPr>
        <p:spPr>
          <a:xfrm>
            <a:off x="960120" y="3035808"/>
            <a:ext cx="2782824" cy="0"/>
          </a:xfrm>
          <a:prstGeom prst="line">
            <a:avLst/>
          </a:prstGeom>
          <a:noFill/>
          <a:ln w="12700">
            <a:solidFill>
              <a:srgbClr val="D5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1460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臨床研究支援</a:t>
            </a:r>
            <a:endParaRPr lang="ja-JP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3154680"/>
            <a:ext cx="2782824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研究デザイン、プロトコル作成、症例数設計、統計解析計画を支援</a:t>
            </a:r>
            <a:endParaRPr lang="ja-JP" sz="2400" dirty="0"/>
          </a:p>
        </p:txBody>
      </p:sp>
      <p:sp>
        <p:nvSpPr>
          <p:cNvPr id="9" name="Shape 7"/>
          <p:cNvSpPr/>
          <p:nvPr/>
        </p:nvSpPr>
        <p:spPr>
          <a:xfrm>
            <a:off x="4383024" y="1737360"/>
            <a:ext cx="3422904" cy="4407408"/>
          </a:xfrm>
          <a:prstGeom prst="roundRect">
            <a:avLst>
              <a:gd name="adj" fmla="val 2671"/>
            </a:avLst>
          </a:prstGeom>
          <a:solidFill>
            <a:srgbClr val="EDF3FA"/>
          </a:solidFill>
          <a:ln/>
        </p:spPr>
      </p:sp>
      <p:sp>
        <p:nvSpPr>
          <p:cNvPr id="10" name="Text 8"/>
          <p:cNvSpPr/>
          <p:nvPr/>
        </p:nvSpPr>
        <p:spPr>
          <a:xfrm>
            <a:off x="4703064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2493C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ja-JP" sz="2400" dirty="0"/>
          </a:p>
        </p:txBody>
      </p:sp>
      <p:sp>
        <p:nvSpPr>
          <p:cNvPr id="11" name="Shape 9"/>
          <p:cNvSpPr/>
          <p:nvPr/>
        </p:nvSpPr>
        <p:spPr>
          <a:xfrm>
            <a:off x="4703064" y="3035808"/>
            <a:ext cx="2782824" cy="0"/>
          </a:xfrm>
          <a:prstGeom prst="line">
            <a:avLst/>
          </a:prstGeom>
          <a:noFill/>
          <a:ln w="12700">
            <a:solidFill>
              <a:srgbClr val="D5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3064" y="251460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統計解析</a:t>
            </a:r>
            <a:endParaRPr lang="ja-JP" sz="2400" dirty="0"/>
          </a:p>
        </p:txBody>
      </p:sp>
      <p:sp>
        <p:nvSpPr>
          <p:cNvPr id="13" name="Text 11"/>
          <p:cNvSpPr/>
          <p:nvPr/>
        </p:nvSpPr>
        <p:spPr>
          <a:xfrm>
            <a:off x="4703064" y="3154680"/>
            <a:ext cx="2782824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解析手法の選定からプログラム作成、結果の解釈まで支援</a:t>
            </a:r>
            <a:endParaRPr lang="ja-JP" sz="2400" dirty="0"/>
          </a:p>
        </p:txBody>
      </p:sp>
      <p:sp>
        <p:nvSpPr>
          <p:cNvPr id="14" name="Shape 12"/>
          <p:cNvSpPr/>
          <p:nvPr/>
        </p:nvSpPr>
        <p:spPr>
          <a:xfrm>
            <a:off x="8125968" y="1737360"/>
            <a:ext cx="3422904" cy="4407408"/>
          </a:xfrm>
          <a:prstGeom prst="roundRect">
            <a:avLst>
              <a:gd name="adj" fmla="val 2671"/>
            </a:avLst>
          </a:prstGeom>
          <a:solidFill>
            <a:srgbClr val="EDF3FA"/>
          </a:solidFill>
          <a:ln/>
        </p:spPr>
      </p:sp>
      <p:sp>
        <p:nvSpPr>
          <p:cNvPr id="15" name="Text 13"/>
          <p:cNvSpPr/>
          <p:nvPr/>
        </p:nvSpPr>
        <p:spPr>
          <a:xfrm>
            <a:off x="8446008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2493C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ja-JP" sz="2400" dirty="0"/>
          </a:p>
        </p:txBody>
      </p:sp>
      <p:sp>
        <p:nvSpPr>
          <p:cNvPr id="16" name="Shape 14"/>
          <p:cNvSpPr/>
          <p:nvPr/>
        </p:nvSpPr>
        <p:spPr>
          <a:xfrm>
            <a:off x="8446008" y="3035808"/>
            <a:ext cx="2782824" cy="0"/>
          </a:xfrm>
          <a:prstGeom prst="line">
            <a:avLst/>
          </a:prstGeom>
          <a:noFill/>
          <a:ln w="12700">
            <a:solidFill>
              <a:srgbClr val="D5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46008" y="251460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4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論文化・学術発信</a:t>
            </a:r>
            <a:endParaRPr lang="ja-JP" sz="2400" dirty="0"/>
          </a:p>
        </p:txBody>
      </p:sp>
      <p:sp>
        <p:nvSpPr>
          <p:cNvPr id="18" name="Text 16"/>
          <p:cNvSpPr/>
          <p:nvPr/>
        </p:nvSpPr>
        <p:spPr>
          <a:xfrm>
            <a:off x="8446008" y="3154680"/>
            <a:ext cx="2782824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構成設計、図表作成、投稿先の選定、査読対応まで支援</a:t>
            </a:r>
            <a:endParaRPr lang="ja-JP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A5F6E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" y="42062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400" b="1" spc="200" kern="0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MEMBER</a:t>
            </a:r>
            <a:endParaRPr lang="ja-JP" sz="14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640080" y="76809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理事</a:t>
            </a:r>
            <a:endParaRPr lang="ja-JP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17236" cy="2066544"/>
          </a:xfrm>
          <a:prstGeom prst="roundRect">
            <a:avLst>
              <a:gd name="adj" fmla="val 3540"/>
            </a:avLst>
          </a:prstGeom>
          <a:solidFill>
            <a:srgbClr val="EDF3F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37360"/>
            <a:ext cx="91440" cy="2066544"/>
          </a:xfrm>
          <a:prstGeom prst="rect">
            <a:avLst/>
          </a:prstGeom>
          <a:solidFill>
            <a:srgbClr val="17408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4768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代表理事</a:t>
            </a:r>
            <a:endParaRPr lang="ja-JP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476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8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川﨑 洋平</a:t>
            </a:r>
            <a:pPr indent="0" marL="0">
              <a:buNone/>
            </a:pPr>
            <a:r>
              <a:rPr lang="ja-JP" altLang="en-US" sz="2000" dirty="0">
                <a:solidFill>
                  <a:srgbClr val="5A5F6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博士（理学）</a:t>
            </a:r>
            <a:endParaRPr lang="ja-JP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7685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生物統計学、ベイズ統計学、臨床試験学</a:t>
            </a:r>
            <a:endParaRPr lang="ja-JP" sz="2400" dirty="0"/>
          </a:p>
        </p:txBody>
      </p:sp>
      <p:sp>
        <p:nvSpPr>
          <p:cNvPr id="9" name="Shape 7"/>
          <p:cNvSpPr/>
          <p:nvPr/>
        </p:nvSpPr>
        <p:spPr>
          <a:xfrm>
            <a:off x="6231636" y="1737360"/>
            <a:ext cx="5317236" cy="2066544"/>
          </a:xfrm>
          <a:prstGeom prst="roundRect">
            <a:avLst>
              <a:gd name="adj" fmla="val 3540"/>
            </a:avLst>
          </a:prstGeom>
          <a:solidFill>
            <a:srgbClr val="EDF3FA"/>
          </a:solidFill>
          <a:ln/>
        </p:spPr>
      </p:sp>
      <p:sp>
        <p:nvSpPr>
          <p:cNvPr id="10" name="Shape 8"/>
          <p:cNvSpPr/>
          <p:nvPr/>
        </p:nvSpPr>
        <p:spPr>
          <a:xfrm>
            <a:off x="6231636" y="1737360"/>
            <a:ext cx="91440" cy="2066544"/>
          </a:xfrm>
          <a:prstGeom prst="rect">
            <a:avLst/>
          </a:prstGeom>
          <a:solidFill>
            <a:srgbClr val="17408C"/>
          </a:solidFill>
          <a:ln/>
        </p:spPr>
      </p:sp>
      <p:sp>
        <p:nvSpPr>
          <p:cNvPr id="11" name="Text 9"/>
          <p:cNvSpPr/>
          <p:nvPr/>
        </p:nvSpPr>
        <p:spPr>
          <a:xfrm>
            <a:off x="6597396" y="1920240"/>
            <a:ext cx="4768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専務理事</a:t>
            </a:r>
            <a:endParaRPr lang="ja-JP" sz="1600" dirty="0"/>
          </a:p>
        </p:txBody>
      </p:sp>
      <p:sp>
        <p:nvSpPr>
          <p:cNvPr id="12" name="Text 10"/>
          <p:cNvSpPr/>
          <p:nvPr/>
        </p:nvSpPr>
        <p:spPr>
          <a:xfrm>
            <a:off x="6597396" y="2240280"/>
            <a:ext cx="476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8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山口 拓允</a:t>
            </a:r>
            <a:pPr indent="0" marL="0">
              <a:buNone/>
            </a:pPr>
            <a:r>
              <a:rPr lang="ja-JP" altLang="en-US" sz="2000" dirty="0">
                <a:solidFill>
                  <a:srgbClr val="5A5F6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博士（医学）</a:t>
            </a:r>
            <a:endParaRPr lang="ja-JP" sz="2800" dirty="0"/>
          </a:p>
        </p:txBody>
      </p:sp>
      <p:sp>
        <p:nvSpPr>
          <p:cNvPr id="13" name="Text 11"/>
          <p:cNvSpPr/>
          <p:nvPr/>
        </p:nvSpPr>
        <p:spPr>
          <a:xfrm>
            <a:off x="6597396" y="2880360"/>
            <a:ext cx="47685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疫学、被ばく医療学、保健統計学</a:t>
            </a:r>
            <a:endParaRPr lang="ja-JP" sz="2400" dirty="0"/>
          </a:p>
        </p:txBody>
      </p:sp>
      <p:sp>
        <p:nvSpPr>
          <p:cNvPr id="14" name="Shape 12"/>
          <p:cNvSpPr/>
          <p:nvPr/>
        </p:nvSpPr>
        <p:spPr>
          <a:xfrm>
            <a:off x="640080" y="4078224"/>
            <a:ext cx="5317236" cy="2066544"/>
          </a:xfrm>
          <a:prstGeom prst="roundRect">
            <a:avLst>
              <a:gd name="adj" fmla="val 3540"/>
            </a:avLst>
          </a:prstGeom>
          <a:solidFill>
            <a:srgbClr val="EDF3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078224"/>
            <a:ext cx="91440" cy="2066544"/>
          </a:xfrm>
          <a:prstGeom prst="rect">
            <a:avLst/>
          </a:prstGeom>
          <a:solidFill>
            <a:srgbClr val="17408C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61104"/>
            <a:ext cx="4768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理事</a:t>
            </a:r>
            <a:endParaRPr lang="ja-JP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4581144"/>
            <a:ext cx="476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8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仕子 優樹</a:t>
            </a:r>
            <a:pPr indent="0" marL="0">
              <a:buNone/>
            </a:pPr>
            <a:r>
              <a:rPr lang="ja-JP" altLang="en-US" sz="2000" dirty="0">
                <a:solidFill>
                  <a:srgbClr val="5A5F6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博士（工学）</a:t>
            </a:r>
            <a:endParaRPr lang="ja-JP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5221224"/>
            <a:ext cx="47685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生物統計学、疫学、予測モデル</a:t>
            </a:r>
            <a:endParaRPr lang="ja-JP" sz="2400" dirty="0"/>
          </a:p>
        </p:txBody>
      </p:sp>
      <p:sp>
        <p:nvSpPr>
          <p:cNvPr id="19" name="Shape 17"/>
          <p:cNvSpPr/>
          <p:nvPr/>
        </p:nvSpPr>
        <p:spPr>
          <a:xfrm>
            <a:off x="6231636" y="4078224"/>
            <a:ext cx="5317236" cy="2066544"/>
          </a:xfrm>
          <a:prstGeom prst="roundRect">
            <a:avLst>
              <a:gd name="adj" fmla="val 3540"/>
            </a:avLst>
          </a:prstGeom>
          <a:solidFill>
            <a:srgbClr val="EDF3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31636" y="4078224"/>
            <a:ext cx="91440" cy="2066544"/>
          </a:xfrm>
          <a:prstGeom prst="rect">
            <a:avLst/>
          </a:prstGeom>
          <a:solidFill>
            <a:srgbClr val="17408C"/>
          </a:solidFill>
          <a:ln/>
        </p:spPr>
      </p:sp>
      <p:sp>
        <p:nvSpPr>
          <p:cNvPr id="21" name="Text 19"/>
          <p:cNvSpPr/>
          <p:nvPr/>
        </p:nvSpPr>
        <p:spPr>
          <a:xfrm>
            <a:off x="6597396" y="4261104"/>
            <a:ext cx="4768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理事</a:t>
            </a:r>
            <a:endParaRPr lang="ja-JP" sz="1600" dirty="0"/>
          </a:p>
        </p:txBody>
      </p:sp>
      <p:sp>
        <p:nvSpPr>
          <p:cNvPr id="22" name="Text 20"/>
          <p:cNvSpPr/>
          <p:nvPr/>
        </p:nvSpPr>
        <p:spPr>
          <a:xfrm>
            <a:off x="6597396" y="4581144"/>
            <a:ext cx="47685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800" b="1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大澤 麻衣子</a:t>
            </a:r>
            <a:pPr indent="0" marL="0">
              <a:buNone/>
            </a:pPr>
            <a:r>
              <a:rPr lang="ja-JP" altLang="en-US" sz="2000" dirty="0">
                <a:solidFill>
                  <a:srgbClr val="5A5F6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博士（薬科学）</a:t>
            </a:r>
            <a:endParaRPr lang="ja-JP" sz="2800" dirty="0"/>
          </a:p>
        </p:txBody>
      </p:sp>
      <p:sp>
        <p:nvSpPr>
          <p:cNvPr id="23" name="Text 21"/>
          <p:cNvSpPr/>
          <p:nvPr/>
        </p:nvSpPr>
        <p:spPr>
          <a:xfrm>
            <a:off x="6597396" y="5221224"/>
            <a:ext cx="47685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2400" dirty="0">
                <a:solidFill>
                  <a:srgbClr val="0000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生物統計学、医療経済学</a:t>
            </a:r>
            <a:endParaRPr lang="ja-JP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A5F6E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4128" y="42062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1400" b="1" spc="200" kern="0" dirty="0">
                <a:solidFill>
                  <a:srgbClr val="1868A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COMPANY</a:t>
            </a:r>
            <a:endParaRPr lang="ja-JP" sz="14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640080" y="768096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000" b="1" dirty="0">
                <a:solidFill>
                  <a:srgbClr val="17408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法人概要</a:t>
            </a:r>
            <a:endParaRPr lang="ja-JP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1655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2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2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408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法人名</a:t>
                      </a:r>
                      <a:endParaRPr lang="en-US" sz="2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一般社団法人ヘルスケア研究・教育支援機構（JCHRES）</a:t>
                      </a:r>
                      <a:endParaRPr lang="en-US" sz="2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代表理事</a:t>
                      </a:r>
                      <a:endParaRPr lang="en-US" sz="2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川﨑 洋平</a:t>
                      </a:r>
                      <a:endParaRPr lang="en-US" sz="2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設立日</a:t>
                      </a:r>
                      <a:endParaRPr lang="en-US" sz="2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2026年1月22日</a:t>
                      </a:r>
                      <a:endParaRPr lang="en-US" sz="2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所在地</a:t>
                      </a:r>
                      <a:endParaRPr lang="en-US" sz="2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東京都新宿区西新宿3丁目3番13号 西新宿水間ビル2F</a:t>
                      </a:r>
                      <a:endParaRPr lang="en-US" sz="2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お問い合わせ</a:t>
                      </a:r>
                      <a:endParaRPr lang="en-US" sz="2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info@jchres.jp</a:t>
                      </a:r>
                      <a:endParaRPr lang="en-US" sz="2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4008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A5F6E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5029200"/>
            <a:ext cx="566928" cy="1828800"/>
          </a:xfrm>
          <a:prstGeom prst="rect">
            <a:avLst/>
          </a:prstGeom>
          <a:solidFill>
            <a:srgbClr val="1C4A8E"/>
          </a:solidFill>
          <a:ln/>
        </p:spPr>
      </p:sp>
      <p:sp>
        <p:nvSpPr>
          <p:cNvPr id="3" name="Shape 1"/>
          <p:cNvSpPr/>
          <p:nvPr/>
        </p:nvSpPr>
        <p:spPr>
          <a:xfrm>
            <a:off x="9189720" y="4114800"/>
            <a:ext cx="566928" cy="2743200"/>
          </a:xfrm>
          <a:prstGeom prst="rect">
            <a:avLst/>
          </a:prstGeom>
          <a:solidFill>
            <a:srgbClr val="1A548F"/>
          </a:solidFill>
          <a:ln/>
        </p:spPr>
      </p:sp>
      <p:sp>
        <p:nvSpPr>
          <p:cNvPr id="4" name="Shape 2"/>
          <p:cNvSpPr/>
          <p:nvPr/>
        </p:nvSpPr>
        <p:spPr>
          <a:xfrm>
            <a:off x="10030968" y="3017520"/>
            <a:ext cx="566928" cy="3840480"/>
          </a:xfrm>
          <a:prstGeom prst="rect">
            <a:avLst/>
          </a:prstGeom>
          <a:solidFill>
            <a:srgbClr val="1C4A8E"/>
          </a:solidFill>
          <a:ln/>
        </p:spPr>
      </p:sp>
      <p:sp>
        <p:nvSpPr>
          <p:cNvPr id="5" name="Shape 3"/>
          <p:cNvSpPr/>
          <p:nvPr/>
        </p:nvSpPr>
        <p:spPr>
          <a:xfrm>
            <a:off x="10872216" y="3474720"/>
            <a:ext cx="566928" cy="3383280"/>
          </a:xfrm>
          <a:prstGeom prst="rect">
            <a:avLst/>
          </a:prstGeom>
          <a:solidFill>
            <a:srgbClr val="173F7F"/>
          </a:solidFill>
          <a:ln/>
        </p:spPr>
      </p:sp>
      <p:sp>
        <p:nvSpPr>
          <p:cNvPr id="6" name="Shape 4"/>
          <p:cNvSpPr/>
          <p:nvPr/>
        </p:nvSpPr>
        <p:spPr>
          <a:xfrm flipV="1">
            <a:off x="8631936" y="4343400"/>
            <a:ext cx="841248" cy="1097280"/>
          </a:xfrm>
          <a:prstGeom prst="line">
            <a:avLst/>
          </a:prstGeom>
          <a:noFill/>
          <a:ln w="38100">
            <a:solidFill>
              <a:srgbClr val="2E5C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473184" y="3703320"/>
            <a:ext cx="841248" cy="640080"/>
          </a:xfrm>
          <a:prstGeom prst="line">
            <a:avLst/>
          </a:prstGeom>
          <a:noFill/>
          <a:ln w="38100">
            <a:solidFill>
              <a:srgbClr val="2E5C9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314432" y="3657600"/>
            <a:ext cx="841248" cy="45720"/>
          </a:xfrm>
          <a:prstGeom prst="line">
            <a:avLst/>
          </a:prstGeom>
          <a:noFill/>
          <a:ln w="38100">
            <a:solidFill>
              <a:srgbClr val="2E5C9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155680" y="3063240"/>
            <a:ext cx="510235" cy="594360"/>
          </a:xfrm>
          <a:prstGeom prst="line">
            <a:avLst/>
          </a:prstGeom>
          <a:noFill/>
          <a:ln w="38100">
            <a:solidFill>
              <a:srgbClr val="2E5C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31352" y="534009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sp>
        <p:nvSpPr>
          <p:cNvPr id="11" name="Shape 9"/>
          <p:cNvSpPr/>
          <p:nvPr/>
        </p:nvSpPr>
        <p:spPr>
          <a:xfrm>
            <a:off x="9372600" y="424281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13848" y="360273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55096" y="355701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65331" y="2962656"/>
            <a:ext cx="201168" cy="201168"/>
          </a:xfrm>
          <a:prstGeom prst="ellipse">
            <a:avLst/>
          </a:prstGeom>
          <a:solidFill>
            <a:srgbClr val="2E5C9E"/>
          </a:solidFill>
          <a:ln/>
        </p:spPr>
      </p:sp>
      <p:pic>
        <p:nvPicPr>
          <p:cNvPr id="15" name="Image 0" descr="/home/claude/jchres-slide-template/assets/jchres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197460" cy="1143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27889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エビデンスに、道をつくる。</a:t>
            </a:r>
            <a:endParaRPr lang="ja-JP" sz="3200" dirty="0"/>
          </a:p>
        </p:txBody>
      </p:sp>
      <p:sp>
        <p:nvSpPr>
          <p:cNvPr id="17" name="Text 14"/>
          <p:cNvSpPr/>
          <p:nvPr/>
        </p:nvSpPr>
        <p:spPr>
          <a:xfrm>
            <a:off x="640080" y="3931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ja-JP" altLang="en-US" sz="1800" dirty="0">
                <a:solidFill>
                  <a:srgbClr val="D6E2F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一般社団法人ヘルスケア研究・教育支援機構</a:t>
            </a:r>
            <a:endParaRPr lang="ja-JP" sz="1800" dirty="0"/>
          </a:p>
          <a:p>
            <a:pPr indent="0" marL="0">
              <a:lnSpc>
                <a:spcPct val="140000"/>
              </a:lnSpc>
              <a:buNone/>
            </a:pPr>
            <a:r>
              <a:rPr lang="ja-JP" altLang="en-US" sz="1800" dirty="0">
                <a:solidFill>
                  <a:srgbClr val="D6E2F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info@jchres.jp　https://jchres.jp</a:t>
            </a:r>
            <a:endParaRPr lang="ja-JP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山口 拓允</dc:creator>
  <cp:lastModifiedBy>山口 拓允</cp:lastModifiedBy>
  <cp:revision>1</cp:revision>
  <dcterms:created xsi:type="dcterms:W3CDTF">2026-09-30T16:47:10Z</dcterms:created>
  <dcterms:modified xsi:type="dcterms:W3CDTF">2026-09-30T16:47:10Z</dcterms:modified>
</cp:coreProperties>
</file>